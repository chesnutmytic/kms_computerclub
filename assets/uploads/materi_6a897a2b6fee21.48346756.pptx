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  <p:sldId id="284" r:id="rId18"/>
    <p:sldId id="283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gC9fNr40U1Jk7kVmufxNFgZUue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2058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903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14602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15195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57847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88268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37113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0202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83359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52161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79405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6576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4" name="Google Shape;84;p3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5" name="Google Shape;85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9" name="Google Shape;89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4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t="8533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0" y="-6900"/>
            <a:ext cx="9144000" cy="5157300"/>
          </a:xfrm>
          <a:prstGeom prst="rect">
            <a:avLst/>
          </a:prstGeom>
          <a:solidFill>
            <a:schemeClr val="tx2">
              <a:lumMod val="50000"/>
              <a:alpha val="76078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359325" y="811150"/>
            <a:ext cx="80619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id" sz="6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Atribut HTML dan Block Elements</a:t>
            </a:r>
            <a:endParaRPr sz="6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359325" y="2833550"/>
            <a:ext cx="517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d" sz="24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Study Case</a:t>
            </a:r>
            <a:endParaRPr sz="24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 t="27140" r="2855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/>
          <p:nvPr/>
        </p:nvSpPr>
        <p:spPr>
          <a:xfrm>
            <a:off x="0" y="-6900"/>
            <a:ext cx="9144000" cy="5157300"/>
          </a:xfrm>
          <a:prstGeom prst="rect">
            <a:avLst/>
          </a:prstGeom>
          <a:solidFill>
            <a:schemeClr val="tx2">
              <a:lumMod val="50000"/>
              <a:alpha val="7607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359325" y="1494300"/>
            <a:ext cx="80619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id" sz="6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Atribut HTML</a:t>
            </a:r>
            <a:endParaRPr sz="6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3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20" name="Google Shape;120;p3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3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124" name="Google Shape;124;p3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3"/>
          <p:cNvSpPr txBox="1"/>
          <p:nvPr/>
        </p:nvSpPr>
        <p:spPr>
          <a:xfrm>
            <a:off x="430296" y="190385"/>
            <a:ext cx="8366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3600" b="1" i="1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Attribute</a:t>
            </a:r>
            <a:r>
              <a:rPr lang="id" sz="3600" b="1" i="0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 HTML</a:t>
            </a:r>
            <a:endParaRPr sz="3600" b="1" i="0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359325" y="1135400"/>
            <a:ext cx="7723200" cy="2251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200" b="1" i="0" u="none" strike="noStrike" cap="none" dirty="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200" b="1" i="0" u="none" strike="noStrike" cap="none" dirty="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id" sz="1200" b="1" i="0" u="none" strike="noStrike" cap="none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d" sz="1200" b="1" i="0" u="none" strike="noStrike" cap="none" dirty="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200" b="1" i="0" u="none" strike="noStrike" cap="none" dirty="0" err="1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lign</a:t>
            </a:r>
            <a:r>
              <a:rPr lang="id" sz="1200" b="1" i="0" u="none" strike="noStrike" cap="none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id" sz="1200" b="1" i="0" u="none" strike="noStrike" cap="none" dirty="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-US" sz="1200" b="1" i="0" u="none" strike="noStrike" cap="none" dirty="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id" sz="1200" b="1" i="0" u="none" strike="noStrike" cap="none" dirty="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1200" b="1" i="0" u="none" strike="noStrike" cap="none" dirty="0" err="1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nter</a:t>
            </a:r>
            <a:r>
              <a:rPr lang="id" sz="1200" b="1" i="0" u="none" strike="noStrike" cap="none" dirty="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id" sz="1200" b="1" i="0" u="none" strike="noStrike" cap="none" dirty="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 b="1" i="0" u="none" strike="noStrike" cap="none" dirty="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200" b="1" i="0" u="none" strike="noStrike" cap="none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I am interested in software engineering, business, and android</a:t>
            </a:r>
            <a:endParaRPr sz="1200" b="1" i="0" u="none" strike="noStrike" cap="none" dirty="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200" b="1" i="0" u="none" strike="noStrike" cap="none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development. I have been working as a Frontend Engineer, Android</a:t>
            </a:r>
            <a:endParaRPr sz="1200" b="1" i="0" u="none" strike="noStrike" cap="none" dirty="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200" b="1" i="0" u="none" strike="noStrike" cap="none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Developer, and Project Manager. I have 4+ years of experience in the IT</a:t>
            </a:r>
            <a:endParaRPr sz="1200" b="1" i="0" u="none" strike="noStrike" cap="none" dirty="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200" b="1" i="0" u="none" strike="noStrike" cap="none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environment and am able to collaborate with the team. I am a</a:t>
            </a:r>
            <a:endParaRPr sz="1200" b="1" i="0" u="none" strike="noStrike" cap="none" dirty="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200" b="1" i="0" u="none" strike="noStrike" cap="none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responsible, hard worker, and passionate to learn new things.</a:t>
            </a:r>
            <a:endParaRPr sz="1200" b="1" i="0" u="none" strike="noStrike" cap="none" dirty="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d" sz="1200" b="1" i="0" u="none" strike="noStrike" cap="none" dirty="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200" b="1" i="0" u="none" strike="noStrike" cap="none" dirty="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id" sz="1200" b="1" i="0" u="none" strike="noStrike" cap="none" dirty="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100" b="1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4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42" name="Google Shape;142;p4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p4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146" name="Google Shape;146;p4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p4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1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Attribute </a:t>
            </a:r>
            <a:r>
              <a:rPr lang="id" sz="3600" b="1" i="0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HTML (2)</a:t>
            </a:r>
            <a:endParaRPr sz="3600" b="1" i="0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504975" y="2148500"/>
            <a:ext cx="7613100" cy="63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" sz="18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&lt;p </a:t>
            </a:r>
            <a:r>
              <a:rPr lang="en-US" sz="18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align</a:t>
            </a:r>
            <a:r>
              <a:rPr lang="id" sz="1800" b="1" i="0" u="none" strike="noStrike" cap="none" dirty="0">
                <a:solidFill>
                  <a:srgbClr val="6A9955"/>
                </a:solidFill>
                <a:latin typeface="Roboto"/>
                <a:ea typeface="Roboto"/>
                <a:cs typeface="Roboto"/>
                <a:sym typeface="Roboto"/>
              </a:rPr>
              <a:t>=”</a:t>
            </a:r>
            <a:r>
              <a:rPr lang="en-US" sz="1800" b="1" i="0" u="none" strike="noStrike" cap="none" dirty="0">
                <a:solidFill>
                  <a:srgbClr val="6A9955"/>
                </a:solidFill>
                <a:latin typeface="Roboto"/>
                <a:ea typeface="Roboto"/>
                <a:cs typeface="Roboto"/>
                <a:sym typeface="Roboto"/>
              </a:rPr>
              <a:t>center</a:t>
            </a:r>
            <a:r>
              <a:rPr lang="id" sz="1800" b="1" i="0" u="none" strike="noStrike" cap="none" dirty="0">
                <a:solidFill>
                  <a:srgbClr val="6A9955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r>
              <a:rPr lang="id" sz="18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r>
              <a:rPr lang="id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…..…..</a:t>
            </a:r>
            <a:r>
              <a:rPr lang="id" sz="18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&lt;/p&gt;</a:t>
            </a:r>
            <a:endParaRPr sz="18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2162200" y="1462775"/>
            <a:ext cx="15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nama atribut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4"/>
          <p:cNvCxnSpPr/>
          <p:nvPr/>
        </p:nvCxnSpPr>
        <p:spPr>
          <a:xfrm>
            <a:off x="2873825" y="1786313"/>
            <a:ext cx="551100" cy="510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1" name="Google Shape;161;p4"/>
          <p:cNvSpPr txBox="1"/>
          <p:nvPr/>
        </p:nvSpPr>
        <p:spPr>
          <a:xfrm>
            <a:off x="4248450" y="1534225"/>
            <a:ext cx="15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atribut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4"/>
          <p:cNvCxnSpPr/>
          <p:nvPr/>
        </p:nvCxnSpPr>
        <p:spPr>
          <a:xfrm flipH="1">
            <a:off x="4174125" y="1820000"/>
            <a:ext cx="520500" cy="47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>
            <a:cxnSpLocks/>
          </p:cNvCxnSpPr>
          <p:nvPr/>
        </p:nvCxnSpPr>
        <p:spPr>
          <a:xfrm>
            <a:off x="3166110" y="2610200"/>
            <a:ext cx="134874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" name="Google Shape;164;p4"/>
          <p:cNvSpPr txBox="1"/>
          <p:nvPr/>
        </p:nvSpPr>
        <p:spPr>
          <a:xfrm>
            <a:off x="3149375" y="2643263"/>
            <a:ext cx="15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attribute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5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70" name="Google Shape;170;p5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5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174" name="Google Shape;174;p5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" name="Google Shape;185;p5"/>
          <p:cNvSpPr txBox="1"/>
          <p:nvPr/>
        </p:nvSpPr>
        <p:spPr>
          <a:xfrm>
            <a:off x="359325" y="164275"/>
            <a:ext cx="8366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3600" b="1" i="1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Attribute</a:t>
            </a:r>
            <a:r>
              <a:rPr lang="id" sz="3600" b="1" i="0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 HTML (3)</a:t>
            </a:r>
            <a:endParaRPr sz="3600" b="1" i="0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359325" y="1135400"/>
            <a:ext cx="7723200" cy="226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id" sz="1500" b="1" i="0" u="none" strike="noStrike" cap="none" dirty="0">
                <a:solidFill>
                  <a:srgbClr val="DC143C"/>
                </a:solidFill>
                <a:latin typeface="Roboto"/>
                <a:ea typeface="Roboto"/>
                <a:cs typeface="Roboto"/>
                <a:sym typeface="Roboto"/>
              </a:rPr>
              <a:t>href</a:t>
            </a:r>
            <a:r>
              <a:rPr lang="id" sz="15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atribut dari </a:t>
            </a:r>
            <a:r>
              <a:rPr lang="id" sz="1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&lt;a&gt;,</a:t>
            </a:r>
            <a:endParaRPr sz="15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id" sz="1500" b="1" i="0" u="none" strike="noStrike" cap="none" dirty="0">
                <a:solidFill>
                  <a:srgbClr val="DC143C"/>
                </a:solidFill>
                <a:latin typeface="Roboto"/>
                <a:ea typeface="Roboto"/>
                <a:cs typeface="Roboto"/>
                <a:sym typeface="Roboto"/>
              </a:rPr>
              <a:t>src</a:t>
            </a:r>
            <a:r>
              <a:rPr lang="id" sz="15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atribut dari </a:t>
            </a:r>
            <a:r>
              <a:rPr lang="id" sz="1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&lt;img&gt;,</a:t>
            </a:r>
            <a:endParaRPr sz="15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id" sz="1500" b="1" i="0" u="none" strike="noStrike" cap="none" dirty="0">
                <a:solidFill>
                  <a:srgbClr val="DC143C"/>
                </a:solidFill>
                <a:latin typeface="Roboto"/>
                <a:ea typeface="Roboto"/>
                <a:cs typeface="Roboto"/>
                <a:sym typeface="Roboto"/>
              </a:rPr>
              <a:t>width</a:t>
            </a:r>
            <a:r>
              <a:rPr lang="id" sz="15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dan </a:t>
            </a:r>
            <a:r>
              <a:rPr lang="id" sz="1500" b="1" i="0" u="none" strike="noStrike" cap="none" dirty="0">
                <a:solidFill>
                  <a:srgbClr val="DC143C"/>
                </a:solidFill>
                <a:latin typeface="Roboto"/>
                <a:ea typeface="Roboto"/>
                <a:cs typeface="Roboto"/>
                <a:sym typeface="Roboto"/>
              </a:rPr>
              <a:t>height</a:t>
            </a:r>
            <a:r>
              <a:rPr lang="id" sz="15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merupakan atribut dari </a:t>
            </a:r>
            <a:r>
              <a:rPr lang="id" sz="1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&lt;img&gt;,</a:t>
            </a:r>
            <a:r>
              <a:rPr lang="id" sz="15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5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id" sz="1500" b="1" i="0" u="none" strike="noStrike" cap="none" dirty="0">
                <a:solidFill>
                  <a:srgbClr val="DC143C"/>
                </a:solidFill>
                <a:latin typeface="Roboto"/>
                <a:ea typeface="Roboto"/>
                <a:cs typeface="Roboto"/>
                <a:sym typeface="Roboto"/>
              </a:rPr>
              <a:t>alt</a:t>
            </a:r>
            <a:r>
              <a:rPr lang="id" sz="15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merupakan atribut dari </a:t>
            </a:r>
            <a:r>
              <a:rPr lang="id" sz="1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&lt;img&gt;</a:t>
            </a:r>
            <a:r>
              <a:rPr lang="id" sz="15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menyediakan teks alternatif untuk gambar</a:t>
            </a:r>
            <a:endParaRPr sz="15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id" sz="15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Atribut </a:t>
            </a:r>
            <a:r>
              <a:rPr lang="id" sz="1500" b="1" i="0" u="none" strike="noStrike" cap="none" dirty="0">
                <a:solidFill>
                  <a:srgbClr val="DC143C"/>
                </a:solidFill>
                <a:latin typeface="Roboto"/>
                <a:ea typeface="Roboto"/>
                <a:cs typeface="Roboto"/>
                <a:sym typeface="Roboto"/>
              </a:rPr>
              <a:t>style</a:t>
            </a:r>
            <a:r>
              <a:rPr lang="id" sz="15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5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id" sz="15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Atribut </a:t>
            </a:r>
            <a:r>
              <a:rPr lang="id" sz="1500" b="1" i="0" u="none" strike="noStrike" cap="none" dirty="0">
                <a:solidFill>
                  <a:srgbClr val="DC143C"/>
                </a:solidFill>
                <a:latin typeface="Roboto"/>
                <a:ea typeface="Roboto"/>
                <a:cs typeface="Roboto"/>
                <a:sym typeface="Roboto"/>
              </a:rPr>
              <a:t>lang</a:t>
            </a:r>
            <a:r>
              <a:rPr lang="id" sz="15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dari tag </a:t>
            </a:r>
            <a:r>
              <a:rPr lang="id" sz="1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&lt;html&gt;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/>
          <p:nvPr/>
        </p:nvSpPr>
        <p:spPr>
          <a:xfrm>
            <a:off x="299455" y="484926"/>
            <a:ext cx="71346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600" b="1" i="1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Buatlah informasi tambahan pada sebuah elemen pada Attribute</a:t>
            </a:r>
            <a:r>
              <a:rPr lang="id" sz="1600" b="1" i="0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 HTML yang telah dipelajari menggunakan </a:t>
            </a:r>
            <a:r>
              <a:rPr lang="id" sz="1600" b="1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teks editor</a:t>
            </a:r>
            <a:endParaRPr sz="1600" b="1" i="0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7"/>
          <p:cNvPicPr preferRelativeResize="0"/>
          <p:nvPr/>
        </p:nvPicPr>
        <p:blipFill rotWithShape="1">
          <a:blip r:embed="rId3">
            <a:alphaModFix/>
          </a:blip>
          <a:srcRect t="27140" r="2855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/>
          <p:nvPr/>
        </p:nvSpPr>
        <p:spPr>
          <a:xfrm>
            <a:off x="0" y="-6900"/>
            <a:ext cx="9144000" cy="5157300"/>
          </a:xfrm>
          <a:prstGeom prst="rect">
            <a:avLst/>
          </a:prstGeom>
          <a:solidFill>
            <a:schemeClr val="tx2">
              <a:lumMod val="50000"/>
              <a:alpha val="7607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359325" y="1494300"/>
            <a:ext cx="80619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id" sz="6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Paragraf</a:t>
            </a:r>
            <a:endParaRPr sz="6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8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206" name="Google Shape;206;p8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8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210" name="Google Shape;210;p8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8"/>
          <p:cNvSpPr txBox="1"/>
          <p:nvPr/>
        </p:nvSpPr>
        <p:spPr>
          <a:xfrm>
            <a:off x="359325" y="880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0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Paragraf</a:t>
            </a:r>
            <a:endParaRPr sz="3600" b="1" i="0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359325" y="1135400"/>
            <a:ext cx="7723200" cy="1300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id" sz="1800" b="1" i="0" u="none" strike="noStrike" cap="none">
                <a:solidFill>
                  <a:srgbClr val="18919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&lt;p&gt;</a:t>
            </a:r>
            <a:endParaRPr sz="1800" b="1" i="0" u="none" strike="noStrike" cap="none">
              <a:solidFill>
                <a:srgbClr val="18919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50" b="1" i="0" u="none" strike="noStrike" cap="none">
                <a:solidFill>
                  <a:srgbClr val="0000CD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50" b="1" i="0" u="none" strike="noStrike" cap="none">
                <a:solidFill>
                  <a:srgbClr val="A52A2A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id" sz="1450" b="1" i="0" u="none" strike="noStrike" cap="none">
                <a:solidFill>
                  <a:srgbClr val="0000CD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id" sz="1450" b="1" i="0" u="none" strike="noStrike" cap="none">
                <a:solidFill>
                  <a:schemeClr val="dk1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This is a paragraph.</a:t>
            </a:r>
            <a:r>
              <a:rPr lang="id" sz="1450" b="1" i="0" u="none" strike="noStrike" cap="none">
                <a:solidFill>
                  <a:srgbClr val="0000CD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50" b="1" i="0" u="none" strike="noStrike" cap="none">
                <a:solidFill>
                  <a:srgbClr val="A52A2A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lang="id" sz="1450" b="1" i="0" u="none" strike="noStrike" cap="none">
                <a:solidFill>
                  <a:srgbClr val="0000CD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 b="1" i="0" u="none" strike="noStrike" cap="none">
              <a:solidFill>
                <a:srgbClr val="0000CD"/>
              </a:solidFill>
              <a:highlight>
                <a:srgbClr val="C2C2C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id" sz="1450" b="1" i="0" u="none" strike="noStrike" cap="none">
                <a:solidFill>
                  <a:srgbClr val="0000CD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50" b="1" i="0" u="none" strike="noStrike" cap="none">
                <a:solidFill>
                  <a:srgbClr val="A52A2A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id" sz="1450" b="1" i="0" u="none" strike="noStrike" cap="none">
                <a:solidFill>
                  <a:srgbClr val="0000CD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id" sz="1450" b="1" i="0" u="none" strike="noStrike" cap="none">
                <a:solidFill>
                  <a:schemeClr val="dk1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This is another paragraph.</a:t>
            </a:r>
            <a:r>
              <a:rPr lang="id" sz="1450" b="1" i="0" u="none" strike="noStrike" cap="none">
                <a:solidFill>
                  <a:srgbClr val="0000CD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50" b="1" i="0" u="none" strike="noStrike" cap="none">
                <a:solidFill>
                  <a:srgbClr val="A52A2A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lang="id" sz="1450" b="1" i="0" u="none" strike="noStrike" cap="none">
                <a:solidFill>
                  <a:srgbClr val="0000CD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800" b="1" i="0" u="none" strike="noStrike" cap="none">
              <a:solidFill>
                <a:srgbClr val="18919B"/>
              </a:solidFill>
              <a:highlight>
                <a:srgbClr val="C2C2C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3" name="Google Shape;22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2950" y="2466125"/>
            <a:ext cx="3009900" cy="109537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9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229" name="Google Shape;229;p9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9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233" name="Google Shape;233;p9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9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9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9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327782" y="238500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1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Heading</a:t>
            </a:r>
            <a:endParaRPr sz="3600" b="1" i="1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418575" y="977400"/>
            <a:ext cx="7613100" cy="1334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d" sz="1800" b="1" i="0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&lt;h1&gt;</a:t>
            </a:r>
            <a:r>
              <a:rPr lang="id"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menandakan judul penting </a:t>
            </a: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2000"/>
              </a:spcBef>
              <a:spcAft>
                <a:spcPts val="1000"/>
              </a:spcAft>
              <a:buNone/>
            </a:pPr>
            <a:r>
              <a:rPr lang="id" sz="1800" b="1" i="0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&lt;h6&gt; </a:t>
            </a:r>
            <a:r>
              <a:rPr lang="id"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menandakan judul kurang penting</a:t>
            </a:r>
            <a:endParaRPr sz="1800" b="1" i="0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10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251" name="Google Shape;251;p10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0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10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255" name="Google Shape;255;p10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0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10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1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Heading (2)</a:t>
            </a:r>
            <a:endParaRPr sz="3600" b="1" i="1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10"/>
          <p:cNvSpPr txBox="1"/>
          <p:nvPr/>
        </p:nvSpPr>
        <p:spPr>
          <a:xfrm>
            <a:off x="418575" y="977400"/>
            <a:ext cx="7613100" cy="12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8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8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id" sz="18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&gt;This is heading 1&lt;/</a:t>
            </a:r>
            <a:r>
              <a:rPr lang="id" sz="18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id" sz="18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850" b="1" i="0" u="none" strike="noStrike" cap="none">
              <a:solidFill>
                <a:srgbClr val="6688CC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8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8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id" sz="18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&gt;This is heading 2&lt;/</a:t>
            </a:r>
            <a:r>
              <a:rPr lang="id" sz="18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id" sz="18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850" b="1" i="0" u="none" strike="noStrike" cap="none">
              <a:solidFill>
                <a:srgbClr val="6688CC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id" sz="18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8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h3</a:t>
            </a:r>
            <a:r>
              <a:rPr lang="id" sz="18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&gt;This is heading 3&lt;/</a:t>
            </a:r>
            <a:r>
              <a:rPr lang="id" sz="18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h3</a:t>
            </a:r>
            <a:r>
              <a:rPr lang="id" sz="18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800" b="1" i="0" u="none" strike="noStrike" cap="none">
              <a:solidFill>
                <a:schemeClr val="dk1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"/>
          <p:cNvSpPr/>
          <p:nvPr/>
        </p:nvSpPr>
        <p:spPr>
          <a:xfrm>
            <a:off x="679882" y="429263"/>
            <a:ext cx="584520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 b="1" i="1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Buatlah teks Paragraf dan Heading dengan apa yang telah dipelajari di </a:t>
            </a:r>
            <a:r>
              <a:rPr lang="id" sz="1800" b="1" i="1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aplikasi teks editor</a:t>
            </a:r>
            <a:endParaRPr sz="1800" b="1" i="1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12"/>
          <p:cNvPicPr preferRelativeResize="0"/>
          <p:nvPr/>
        </p:nvPicPr>
        <p:blipFill rotWithShape="1">
          <a:blip r:embed="rId3">
            <a:alphaModFix/>
          </a:blip>
          <a:srcRect t="27140" r="2855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2"/>
          <p:cNvSpPr/>
          <p:nvPr/>
        </p:nvSpPr>
        <p:spPr>
          <a:xfrm>
            <a:off x="0" y="-6900"/>
            <a:ext cx="9144000" cy="5157300"/>
          </a:xfrm>
          <a:prstGeom prst="rect">
            <a:avLst/>
          </a:prstGeom>
          <a:solidFill>
            <a:schemeClr val="tx2">
              <a:lumMod val="50000"/>
              <a:alpha val="7607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359325" y="1494300"/>
            <a:ext cx="80619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id" sz="6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List</a:t>
            </a:r>
            <a:endParaRPr sz="6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13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287" name="Google Shape;287;p13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13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291" name="Google Shape;291;p13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13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1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List</a:t>
            </a:r>
            <a:endParaRPr sz="3600" b="1" i="1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13"/>
          <p:cNvSpPr txBox="1"/>
          <p:nvPr/>
        </p:nvSpPr>
        <p:spPr>
          <a:xfrm>
            <a:off x="418575" y="1129800"/>
            <a:ext cx="7092600" cy="197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Ada beberapa tipe list, diantaranya:</a:t>
            </a:r>
            <a:endParaRPr sz="18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Roboto"/>
              <a:buChar char="●"/>
            </a:pPr>
            <a:r>
              <a:rPr lang="id-ID" sz="18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Ordered</a:t>
            </a:r>
            <a:r>
              <a:rPr lang="id-ID" sz="18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id-ID" sz="18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lists</a:t>
            </a:r>
            <a:r>
              <a:rPr lang="id-ID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: daftar yang ditampilkan secara terurut.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id" sz="1800" b="0" i="1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Unordered lists</a:t>
            </a:r>
            <a:r>
              <a:rPr lang="id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: daftar yang ditampilkan tidak memiliki urutan. </a:t>
            </a:r>
            <a:endParaRPr sz="18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15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332" name="Google Shape;332;p15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15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336" name="Google Shape;336;p15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p15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1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Ordered Lists</a:t>
            </a:r>
            <a:endParaRPr sz="3600" b="1" i="1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15"/>
          <p:cNvSpPr txBox="1"/>
          <p:nvPr/>
        </p:nvSpPr>
        <p:spPr>
          <a:xfrm>
            <a:off x="418575" y="1129800"/>
            <a:ext cx="7884600" cy="2571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Tag yang digunakan </a:t>
            </a:r>
            <a:r>
              <a:rPr lang="id" sz="1800" b="1" i="0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&lt;ol&gt;&lt;/ol&gt; </a:t>
            </a:r>
            <a:r>
              <a:rPr lang="id"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kemudian di dalam elemennya menggunakan tags </a:t>
            </a:r>
            <a:r>
              <a:rPr lang="id" sz="1800" b="1" i="0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&lt;li&gt;&lt;/li&gt;</a:t>
            </a:r>
            <a:endParaRPr sz="18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id" sz="15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5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id" sz="15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50" b="1" i="0" u="none" strike="noStrike" cap="none">
              <a:solidFill>
                <a:srgbClr val="6688CC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id" sz="15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id" sz="15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d" sz="15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&gt;Coffee&lt;/</a:t>
            </a:r>
            <a:r>
              <a:rPr lang="id" sz="15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d" sz="15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50" b="1" i="0" u="none" strike="noStrike" cap="none">
              <a:solidFill>
                <a:srgbClr val="6688CC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id" sz="15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id" sz="15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d" sz="15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&gt;Tea&lt;/</a:t>
            </a:r>
            <a:r>
              <a:rPr lang="id" sz="15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d" sz="15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50" b="1" i="0" u="none" strike="noStrike" cap="none">
              <a:solidFill>
                <a:srgbClr val="6688CC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id" sz="15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id" sz="15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d" sz="15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&gt;Milk&lt;/</a:t>
            </a:r>
            <a:r>
              <a:rPr lang="id" sz="15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d" sz="15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50" b="1" i="0" u="none" strike="noStrike" cap="none">
              <a:solidFill>
                <a:srgbClr val="6688CC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id" sz="15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550" b="1" i="0" u="none" strike="noStrike" cap="none">
                <a:solidFill>
                  <a:srgbClr val="225588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id" sz="1550" b="1" i="0" u="none" strike="noStrike" cap="none">
                <a:solidFill>
                  <a:srgbClr val="6688CC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50" b="1" i="0" u="none" strike="noStrike" cap="none">
              <a:solidFill>
                <a:srgbClr val="6688CC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49" name="Google Shape;34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1988" y="3194450"/>
            <a:ext cx="1095375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14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309" name="Google Shape;309;p14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14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313" name="Google Shape;313;p14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" name="Google Shape;324;p14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1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Unordered Lists</a:t>
            </a:r>
            <a:endParaRPr sz="3600" b="1" i="1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525575" y="924804"/>
            <a:ext cx="7884600" cy="267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Tag yang digunakan </a:t>
            </a:r>
            <a:r>
              <a:rPr lang="id" sz="18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&lt;ul&gt;&lt;/ul&gt; </a:t>
            </a:r>
            <a:r>
              <a:rPr lang="id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kemudian di dalam elemennya menggunakan tags </a:t>
            </a:r>
            <a:r>
              <a:rPr lang="id" sz="18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&lt;li&gt;&lt;/li&gt;</a:t>
            </a:r>
            <a:endParaRPr sz="18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65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65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id" sz="165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50" b="1" i="0" u="none" strike="noStrike" cap="none" dirty="0">
              <a:solidFill>
                <a:srgbClr val="6688CC"/>
              </a:solidFill>
              <a:highlight>
                <a:srgbClr val="C2C2C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65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id" sz="165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d" sz="165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&gt;Coffee&lt;/</a:t>
            </a:r>
            <a:r>
              <a:rPr lang="id" sz="165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d" sz="165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50" b="1" i="0" u="none" strike="noStrike" cap="none" dirty="0">
              <a:solidFill>
                <a:srgbClr val="6688CC"/>
              </a:solidFill>
              <a:highlight>
                <a:srgbClr val="C2C2C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65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id" sz="165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d" sz="165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&gt;Tea&lt;/</a:t>
            </a:r>
            <a:r>
              <a:rPr lang="id" sz="165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d" sz="165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50" b="1" i="0" u="none" strike="noStrike" cap="none" dirty="0">
              <a:solidFill>
                <a:srgbClr val="6688CC"/>
              </a:solidFill>
              <a:highlight>
                <a:srgbClr val="C2C2C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65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id" sz="165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d" sz="165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&gt;Milk&lt;/</a:t>
            </a:r>
            <a:r>
              <a:rPr lang="id" sz="165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d" sz="165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50" b="1" i="0" u="none" strike="noStrike" cap="none" dirty="0">
              <a:solidFill>
                <a:srgbClr val="6688CC"/>
              </a:solidFill>
              <a:highlight>
                <a:srgbClr val="C2C2C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65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65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id" sz="165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800" b="1" i="0" u="none" strike="noStrike" cap="none" dirty="0">
              <a:solidFill>
                <a:schemeClr val="dk1"/>
              </a:solidFill>
              <a:highlight>
                <a:srgbClr val="C2C2C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6" name="Google Shape;32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9228" y="2263168"/>
            <a:ext cx="1171575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14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309" name="Google Shape;309;p14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14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313" name="Google Shape;313;p14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" name="Google Shape;324;p14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1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Nested </a:t>
            </a:r>
            <a:r>
              <a:rPr lang="id" sz="3600" b="1" i="1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Lists</a:t>
            </a:r>
            <a:endParaRPr sz="3600" b="1" i="1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525575" y="924804"/>
            <a:ext cx="7884600" cy="3287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Nested list </a:t>
            </a:r>
            <a:r>
              <a:rPr lang="en-U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atau</a:t>
            </a: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list </a:t>
            </a:r>
            <a:r>
              <a:rPr lang="en-U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bersarang</a:t>
            </a: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seperti</a:t>
            </a: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bab</a:t>
            </a: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dan sub </a:t>
            </a:r>
            <a:r>
              <a:rPr lang="en-U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bab</a:t>
            </a:r>
            <a:endParaRPr lang="id-ID" sz="12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ct val="135714"/>
              </a:lnSpc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t-IT" sz="1200" b="1" i="0" u="none" strike="noStrike" cap="none" dirty="0">
                <a:solidFill>
                  <a:schemeClr val="accent1">
                    <a:lumMod val="50000"/>
                  </a:schemeClr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>
              <a:lnSpc>
                <a:spcPct val="135714"/>
              </a:lnSpc>
              <a:buClr>
                <a:schemeClr val="dk1"/>
              </a:buClr>
              <a:buSzPts val="1100"/>
            </a:pP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 &lt;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&gt;bagian pertama&lt;/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marR="0" lvl="0" indent="0" algn="l" rtl="0">
              <a:lnSpc>
                <a:spcPct val="135714"/>
              </a:lnSpc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&gt;Coffee&lt;/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&gt;Tea&lt;/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&gt;Milk&lt;/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>
              <a:lnSpc>
                <a:spcPct val="135714"/>
              </a:lnSpc>
              <a:buClr>
                <a:schemeClr val="dk1"/>
              </a:buClr>
              <a:buSzPts val="1100"/>
            </a:pP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 &lt;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&gt;bagian kedua&lt;/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>
              <a:lnSpc>
                <a:spcPct val="135714"/>
              </a:lnSpc>
              <a:buClr>
                <a:schemeClr val="dk1"/>
              </a:buClr>
              <a:buSzPts val="1100"/>
            </a:pP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 &lt;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&gt;bagian ketiga&lt;/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>
              <a:lnSpc>
                <a:spcPct val="135714"/>
              </a:lnSpc>
              <a:buClr>
                <a:schemeClr val="dk1"/>
              </a:buClr>
              <a:buSzPts val="1100"/>
            </a:pP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t-IT" sz="1200" b="1" i="0" u="none" strike="noStrike" cap="none" dirty="0">
                <a:solidFill>
                  <a:srgbClr val="225588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it-IT" sz="1200" b="1" i="0" u="none" strike="noStrike" cap="none" dirty="0">
                <a:solidFill>
                  <a:srgbClr val="6688CC"/>
                </a:solidFill>
                <a:highlight>
                  <a:srgbClr val="C2C2C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it-IT" sz="1200" b="1" i="0" u="none" strike="noStrike" cap="none" dirty="0">
              <a:solidFill>
                <a:schemeClr val="dk1"/>
              </a:solidFill>
              <a:highlight>
                <a:srgbClr val="C2C2C2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it-IT" sz="1200" b="1" i="0" u="none" strike="noStrike" cap="none" dirty="0">
              <a:solidFill>
                <a:schemeClr val="dk1"/>
              </a:solidFill>
              <a:highlight>
                <a:srgbClr val="C2C2C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10985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14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309" name="Google Shape;309;p14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14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313" name="Google Shape;313;p14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" name="Google Shape;324;p14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1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Lists</a:t>
            </a:r>
            <a:endParaRPr sz="3600" b="1" i="1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 descr="A white paper with black text&#10;&#10;Description automatically generated">
            <a:extLst>
              <a:ext uri="{FF2B5EF4-FFF2-40B4-BE49-F238E27FC236}">
                <a16:creationId xmlns:a16="http://schemas.microsoft.com/office/drawing/2014/main" id="{9996C31A-EB28-BAE3-7015-C3E8ACEEC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32" y="903175"/>
            <a:ext cx="6212913" cy="355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635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"/>
          <p:cNvSpPr/>
          <p:nvPr/>
        </p:nvSpPr>
        <p:spPr>
          <a:xfrm>
            <a:off x="676656" y="2202418"/>
            <a:ext cx="779068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Anda mempunyai sebuah restoran dan terdapat menu makanan serta minuman yang bermacam-macam. Buatkan sebuah list, unordered, ordered dan menambahkan list seperti yang telah dipelajari di aplikasi teks editor</a:t>
            </a:r>
            <a:r>
              <a:rPr lang="en-US" b="1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b="1" dirty="0" err="1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silahkan</a:t>
            </a:r>
            <a:r>
              <a:rPr lang="en-US" b="1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1" dirty="0" err="1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kreasikan</a:t>
            </a:r>
            <a:r>
              <a:rPr lang="en-US" b="1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1" dirty="0" err="1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isinya</a:t>
            </a:r>
            <a:r>
              <a:rPr lang="en-US" b="1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1" dirty="0" err="1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sesuai</a:t>
            </a:r>
            <a:r>
              <a:rPr lang="en-US" b="1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1" dirty="0" err="1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anda</a:t>
            </a:r>
            <a:r>
              <a:rPr lang="id" sz="14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…..</a:t>
            </a:r>
            <a:endParaRPr sz="1400" b="1" i="1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1. </a:t>
            </a:r>
            <a:r>
              <a:rPr lang="id-ID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Atribute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HTML berfungsi untuk memberikan informasi tambahan pada sebuah elemen, benar atau salah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</a:t>
            </a:r>
            <a:r>
              <a:rPr lang="en-US" dirty="0" err="1">
                <a:solidFill>
                  <a:schemeClr val="tx1"/>
                </a:solidFill>
              </a:rPr>
              <a:t>Benar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Salah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273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1. </a:t>
            </a:r>
            <a:r>
              <a:rPr lang="id-ID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Atribute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HTML berfungsi untuk memberikan informasi tambahan pada sebuah elemen, benar atau salah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</a:t>
            </a:r>
            <a:r>
              <a:rPr lang="en-US" dirty="0" err="1">
                <a:solidFill>
                  <a:schemeClr val="tx1"/>
                </a:solidFill>
              </a:rPr>
              <a:t>Benar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Salah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217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2. </a:t>
            </a:r>
            <a:r>
              <a:rPr lang="id-ID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merupakan sebuah atribut dari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&lt;</a:t>
            </a:r>
            <a:r>
              <a:rPr lang="en-US" dirty="0" err="1">
                <a:solidFill>
                  <a:schemeClr val="tx1"/>
                </a:solidFill>
              </a:rPr>
              <a:t>img</a:t>
            </a:r>
            <a:r>
              <a:rPr lang="en-US" dirty="0">
                <a:solidFill>
                  <a:schemeClr val="tx1"/>
                </a:solidFill>
              </a:rPr>
              <a:t>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</a:t>
            </a:r>
            <a:r>
              <a:rPr lang="en-US" dirty="0"/>
              <a:t>.</a:t>
            </a:r>
            <a:r>
              <a:rPr lang="en-US" dirty="0">
                <a:solidFill>
                  <a:schemeClr val="tx1"/>
                </a:solidFill>
              </a:rPr>
              <a:t>&lt;p&gt;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&lt;omg&gt;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&lt;a&gt;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509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2. </a:t>
            </a:r>
            <a:r>
              <a:rPr lang="id-ID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merupakan sebuah atribut dari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&lt;</a:t>
            </a:r>
            <a:r>
              <a:rPr lang="en-US" dirty="0" err="1">
                <a:solidFill>
                  <a:schemeClr val="tx1"/>
                </a:solidFill>
              </a:rPr>
              <a:t>img</a:t>
            </a:r>
            <a:r>
              <a:rPr lang="en-US" dirty="0">
                <a:solidFill>
                  <a:schemeClr val="tx1"/>
                </a:solidFill>
              </a:rPr>
              <a:t>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</a:t>
            </a:r>
            <a:r>
              <a:rPr lang="en-US" dirty="0"/>
              <a:t>.</a:t>
            </a:r>
            <a:r>
              <a:rPr lang="en-US" dirty="0">
                <a:solidFill>
                  <a:schemeClr val="tx1"/>
                </a:solidFill>
              </a:rPr>
              <a:t>&lt;p&gt;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&lt;omg&gt;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&lt;a&gt;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25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3. 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Elemen &lt;p&gt; berguna untuk </a:t>
            </a:r>
            <a:r>
              <a:rPr lang="id-ID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menunjukan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sebuah?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</a:t>
            </a:r>
            <a:r>
              <a:rPr lang="en-US" dirty="0" err="1">
                <a:solidFill>
                  <a:schemeClr val="tx1"/>
                </a:solidFill>
              </a:rPr>
              <a:t>Opini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 </a:t>
            </a:r>
            <a:r>
              <a:rPr lang="en-US" dirty="0" err="1">
                <a:solidFill>
                  <a:schemeClr val="tx1"/>
                </a:solidFill>
              </a:rPr>
              <a:t>Klimaks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Tanda </a:t>
            </a:r>
            <a:r>
              <a:rPr lang="en-US" dirty="0" err="1">
                <a:solidFill>
                  <a:schemeClr val="tx1"/>
                </a:solidFill>
              </a:rPr>
              <a:t>perintah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</a:t>
            </a:r>
            <a:r>
              <a:rPr lang="en-US" dirty="0" err="1">
                <a:solidFill>
                  <a:schemeClr val="tx1"/>
                </a:solidFill>
              </a:rPr>
              <a:t>Paragraf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045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3. 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Elemen &lt;p&gt; berguna untuk </a:t>
            </a:r>
            <a:r>
              <a:rPr lang="id-ID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menunjukan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sebuah?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</a:t>
            </a:r>
            <a:r>
              <a:rPr lang="en-US" dirty="0" err="1">
                <a:solidFill>
                  <a:schemeClr val="tx1"/>
                </a:solidFill>
              </a:rPr>
              <a:t>Opini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 </a:t>
            </a:r>
            <a:r>
              <a:rPr lang="en-US" dirty="0" err="1">
                <a:solidFill>
                  <a:schemeClr val="tx1"/>
                </a:solidFill>
              </a:rPr>
              <a:t>Klimaks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Tanda </a:t>
            </a:r>
            <a:r>
              <a:rPr lang="en-US" dirty="0" err="1">
                <a:solidFill>
                  <a:schemeClr val="tx1"/>
                </a:solidFill>
              </a:rPr>
              <a:t>perintah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</a:t>
            </a:r>
            <a:r>
              <a:rPr lang="en-US" dirty="0" err="1">
                <a:solidFill>
                  <a:schemeClr val="tx1"/>
                </a:solidFill>
              </a:rPr>
              <a:t>Paragraf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222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4. </a:t>
            </a:r>
            <a:r>
              <a:rPr lang="sv-S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Tag dari sebuah heading ada berapa?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&lt;h1&gt;</a:t>
            </a:r>
            <a:r>
              <a:rPr lang="en-US" dirty="0" err="1">
                <a:solidFill>
                  <a:schemeClr val="tx1"/>
                </a:solidFill>
              </a:rPr>
              <a:t>sampai</a:t>
            </a:r>
            <a:r>
              <a:rPr lang="en-US" dirty="0">
                <a:solidFill>
                  <a:schemeClr val="tx1"/>
                </a:solidFill>
              </a:rPr>
              <a:t>&lt;h6&gt;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 &lt;h1&gt;</a:t>
            </a:r>
            <a:r>
              <a:rPr lang="en-US" dirty="0" err="1">
                <a:solidFill>
                  <a:schemeClr val="tx1"/>
                </a:solidFill>
              </a:rPr>
              <a:t>sampai</a:t>
            </a:r>
            <a:r>
              <a:rPr lang="en-US" dirty="0">
                <a:solidFill>
                  <a:schemeClr val="tx1"/>
                </a:solidFill>
              </a:rPr>
              <a:t>&lt;h2&gt; 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&lt;h1&gt;</a:t>
            </a:r>
            <a:r>
              <a:rPr lang="en-US" dirty="0" err="1">
                <a:solidFill>
                  <a:schemeClr val="tx1"/>
                </a:solidFill>
              </a:rPr>
              <a:t>sampai</a:t>
            </a:r>
            <a:r>
              <a:rPr lang="en-US" dirty="0">
                <a:solidFill>
                  <a:schemeClr val="tx1"/>
                </a:solidFill>
              </a:rPr>
              <a:t>&lt;h7&gt;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&lt;h1&gt;</a:t>
            </a:r>
            <a:r>
              <a:rPr lang="en-US" dirty="0" err="1">
                <a:solidFill>
                  <a:schemeClr val="tx1"/>
                </a:solidFill>
              </a:rPr>
              <a:t>sampai</a:t>
            </a:r>
            <a:r>
              <a:rPr lang="en-US" dirty="0">
                <a:solidFill>
                  <a:schemeClr val="tx1"/>
                </a:solidFill>
              </a:rPr>
              <a:t>&lt;h8&gt; 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329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4. </a:t>
            </a:r>
            <a:r>
              <a:rPr lang="sv-S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Tag dari sebuah heading ada berapa?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&lt;h1&gt;</a:t>
            </a:r>
            <a:r>
              <a:rPr lang="en-US" dirty="0" err="1">
                <a:solidFill>
                  <a:schemeClr val="tx1"/>
                </a:solidFill>
              </a:rPr>
              <a:t>sampai</a:t>
            </a:r>
            <a:r>
              <a:rPr lang="en-US" dirty="0">
                <a:solidFill>
                  <a:schemeClr val="tx1"/>
                </a:solidFill>
              </a:rPr>
              <a:t>&lt;h6&gt;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 &lt;h1&gt;</a:t>
            </a:r>
            <a:r>
              <a:rPr lang="en-US" dirty="0" err="1">
                <a:solidFill>
                  <a:schemeClr val="tx1"/>
                </a:solidFill>
              </a:rPr>
              <a:t>sampai</a:t>
            </a:r>
            <a:r>
              <a:rPr lang="en-US" dirty="0">
                <a:solidFill>
                  <a:schemeClr val="tx1"/>
                </a:solidFill>
              </a:rPr>
              <a:t>&lt;h2&gt; 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&lt;h1&gt;</a:t>
            </a:r>
            <a:r>
              <a:rPr lang="en-US" dirty="0" err="1">
                <a:solidFill>
                  <a:schemeClr val="tx1"/>
                </a:solidFill>
              </a:rPr>
              <a:t>sampai</a:t>
            </a:r>
            <a:r>
              <a:rPr lang="en-US" dirty="0">
                <a:solidFill>
                  <a:schemeClr val="tx1"/>
                </a:solidFill>
              </a:rPr>
              <a:t>&lt;h7&gt;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&lt;h1&gt;</a:t>
            </a:r>
            <a:r>
              <a:rPr lang="en-US" dirty="0" err="1">
                <a:solidFill>
                  <a:schemeClr val="tx1"/>
                </a:solidFill>
              </a:rPr>
              <a:t>sampai</a:t>
            </a:r>
            <a:r>
              <a:rPr lang="en-US" dirty="0">
                <a:solidFill>
                  <a:schemeClr val="tx1"/>
                </a:solidFill>
              </a:rPr>
              <a:t>&lt;h8&gt; 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077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5. </a:t>
            </a:r>
            <a:r>
              <a:rPr lang="nn-NO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 yang tidak mementingkan urutan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Ordered list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 Unordered list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List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Heading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047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5. </a:t>
            </a:r>
            <a:r>
              <a:rPr lang="nn-NO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 yang tidak mementingkan urutan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Ordered list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 Unordered list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List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Heading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58882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793</Words>
  <Application>Microsoft Office PowerPoint</Application>
  <PresentationFormat>On-screen Show (16:9)</PresentationFormat>
  <Paragraphs>126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Roboto</vt:lpstr>
      <vt:lpstr>Consolas</vt:lpstr>
      <vt:lpstr>Courier New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dhafin naufal</cp:lastModifiedBy>
  <cp:revision>5</cp:revision>
  <dcterms:modified xsi:type="dcterms:W3CDTF">2024-07-09T06:27:36Z</dcterms:modified>
</cp:coreProperties>
</file>