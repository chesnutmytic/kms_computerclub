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62" r:id="rId10"/>
    <p:sldId id="263" r:id="rId11"/>
    <p:sldId id="265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hAzbXOsObTHGhjWdc7EKPNc2K4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91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89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4a280893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14a280893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569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133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a2808932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14a2808932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2274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88429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2555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9924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530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17004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1460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a2808932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a2808932e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5685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t="8533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/>
          <p:nvPr/>
        </p:nvSpPr>
        <p:spPr>
          <a:xfrm>
            <a:off x="0" y="-6900"/>
            <a:ext cx="9144000" cy="5157300"/>
          </a:xfrm>
          <a:prstGeom prst="rect">
            <a:avLst/>
          </a:prstGeom>
          <a:solidFill>
            <a:schemeClr val="tx2">
              <a:lumMod val="25000"/>
              <a:alpha val="7607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359325" y="1725350"/>
            <a:ext cx="8061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id" sz="6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Pengenalan HTML</a:t>
            </a:r>
            <a:endParaRPr sz="6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359325" y="2833550"/>
            <a:ext cx="517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d" sz="2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"/>
          <p:cNvPicPr preferRelativeResize="0"/>
          <p:nvPr/>
        </p:nvPicPr>
        <p:blipFill rotWithShape="1">
          <a:blip r:embed="rId3">
            <a:alphaModFix/>
          </a:blip>
          <a:srcRect t="27140" r="2855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0" y="-6900"/>
            <a:ext cx="9144000" cy="5157300"/>
          </a:xfrm>
          <a:prstGeom prst="rect">
            <a:avLst/>
          </a:prstGeom>
          <a:solidFill>
            <a:schemeClr val="tx2">
              <a:lumMod val="25000"/>
              <a:alpha val="7607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359325" y="1494300"/>
            <a:ext cx="80619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id" sz="64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Berkas Pertama HTML</a:t>
            </a:r>
            <a:endParaRPr sz="64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7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75" name="Google Shape;75;p7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" name="Google Shape;78;p7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79" name="Google Shape;79;p7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7"/>
          <p:cNvSpPr txBox="1"/>
          <p:nvPr/>
        </p:nvSpPr>
        <p:spPr>
          <a:xfrm>
            <a:off x="359325" y="880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Contoh </a:t>
            </a:r>
            <a:r>
              <a:rPr lang="id" sz="36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Berkas Pertama HTML</a:t>
            </a:r>
            <a:endParaRPr sz="36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449200" y="750775"/>
            <a:ext cx="7572300" cy="3724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Nama: Dhafin Naufal </a:t>
            </a:r>
            <a:r>
              <a:rPr lang="en-US" sz="1000" b="1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Nazhif</a:t>
            </a:r>
            <a:endParaRPr lang="en-US" sz="1000" b="1" i="0" u="none" strike="noStrike" cap="none" dirty="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Alamat: Jl. Kolonel Ahmad </a:t>
            </a:r>
            <a:r>
              <a:rPr lang="en-US" sz="1000" b="1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Syam</a:t>
            </a:r>
            <a:r>
              <a:rPr lang="en-US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No.216, </a:t>
            </a:r>
            <a:r>
              <a:rPr lang="en-US" sz="1000" b="1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Sayang</a:t>
            </a:r>
            <a:r>
              <a:rPr lang="en-US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00" b="1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Kec</a:t>
            </a:r>
            <a:r>
              <a:rPr lang="en-US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 </a:t>
            </a:r>
            <a:r>
              <a:rPr lang="en-US" sz="1000" b="1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Jatinangor</a:t>
            </a:r>
            <a:r>
              <a:rPr lang="en-US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00" b="1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Kabupaten</a:t>
            </a:r>
            <a:r>
              <a:rPr lang="en-US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00" b="1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Sumedang</a:t>
            </a:r>
            <a:r>
              <a:rPr lang="en-US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00" b="1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Jawa</a:t>
            </a:r>
            <a:r>
              <a:rPr lang="en-US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Barat 45363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Telepon</a:t>
            </a:r>
            <a:r>
              <a:rPr lang="en-US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082127595059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Email: dhafin@gmail.com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000" b="1" i="0" u="none" strike="noStrike" cap="none" dirty="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Riwayat Pendidikan: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SMA NEGERI 1 RANCAEKEK</a:t>
            </a:r>
            <a:endParaRPr lang="en-US" sz="1000" b="1" i="0" u="none" strike="noStrike" cap="none" dirty="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i="0" u="none" strike="noStrike" cap="none" dirty="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Pengalaman Kerja:</a:t>
            </a: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Admin </a:t>
            </a:r>
            <a:r>
              <a:rPr lang="id-ID" sz="1000" b="1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Assistant</a:t>
            </a: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PT XYZ, Januari 2021 - Sekarang</a:t>
            </a: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Mencatat dan mengelola dokumen administrasi perusahaan</a:t>
            </a: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Menyusun laporan bulanan dan tahunan</a:t>
            </a: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Menyediakan bantuan teknis bagi karyawan</a:t>
            </a: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Menyelesaikan tugas-tugas administrasi lainnya sesuai kebutuhan perusahaan</a:t>
            </a:r>
            <a:endParaRPr lang="en-US" sz="1000" b="1" i="0" u="none" strike="noStrike" cap="none" dirty="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id-ID" sz="1000" b="1" i="0" u="none" strike="noStrike" cap="none" dirty="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Kemampuan:</a:t>
            </a: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Kemampuan menggunakan perangkat lunak kantor (Microsoft Office)</a:t>
            </a: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Kemampuan bahasa Inggris (lisan dan tulisan)</a:t>
            </a: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id-ID" sz="1000" b="1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Kemampuan bekerja sama dalam tim</a:t>
            </a:r>
            <a:endParaRPr sz="1800" b="1" i="1" u="none" strike="noStrike" cap="none" dirty="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g14a2808932e_0_0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97" name="Google Shape;97;g14a2808932e_0_0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14a2808932e_0_0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14a2808932e_0_0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g14a2808932e_0_0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101" name="Google Shape;101;g14a2808932e_0_0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14a2808932e_0_0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14a2808932e_0_0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14a2808932e_0_0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14a2808932e_0_0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14a2808932e_0_0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14a2808932e_0_0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14a2808932e_0_0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14a2808932e_0_0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g14a2808932e_0_0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500" b="1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Buatlah </a:t>
            </a:r>
            <a:r>
              <a:rPr lang="id" sz="25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Berkas Pertama HTMLmu Sesuai contoh </a:t>
            </a:r>
            <a:endParaRPr sz="2500" b="1" i="0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8"/>
          <p:cNvPicPr preferRelativeResize="0"/>
          <p:nvPr/>
        </p:nvPicPr>
        <p:blipFill rotWithShape="1">
          <a:blip r:embed="rId3">
            <a:alphaModFix/>
          </a:blip>
          <a:srcRect t="27140" r="2855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0" y="-6900"/>
            <a:ext cx="9144000" cy="5157300"/>
          </a:xfrm>
          <a:prstGeom prst="rect">
            <a:avLst/>
          </a:prstGeom>
          <a:solidFill>
            <a:schemeClr val="tx2">
              <a:lumMod val="25000"/>
              <a:alpha val="76078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359325" y="1494300"/>
            <a:ext cx="80619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id" sz="6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Struktur Dasar HTML</a:t>
            </a:r>
            <a:endParaRPr sz="6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9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27" name="Google Shape;127;p9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9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31" name="Google Shape;131;p9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9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Struktur Dasar HTML</a:t>
            </a:r>
            <a:endParaRPr sz="3600" b="1" i="0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418575" y="977400"/>
            <a:ext cx="5425800" cy="309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id" sz="1400" b="1" i="0" u="none" strike="noStrike" cap="none" dirty="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Judul Halaman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b="1" dirty="0" err="1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Judul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id" sz="1400" b="1" i="0" u="none" strike="noStrike" cap="none" dirty="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Sebuah Paragraph.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300" b="1" i="1" u="none" strike="noStrike" cap="none" dirty="0">
              <a:solidFill>
                <a:schemeClr val="dk1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9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27" name="Google Shape;127;p9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9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31" name="Google Shape;131;p9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9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dirty="0" err="1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Elemen</a:t>
            </a:r>
            <a:r>
              <a:rPr lang="en-US" sz="3600" b="1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 dan tag </a:t>
            </a:r>
            <a:r>
              <a:rPr lang="id-ID" sz="36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</a:p>
        </p:txBody>
      </p:sp>
      <p:sp>
        <p:nvSpPr>
          <p:cNvPr id="143" name="Google Shape;143;p9"/>
          <p:cNvSpPr txBox="1"/>
          <p:nvPr/>
        </p:nvSpPr>
        <p:spPr>
          <a:xfrm>
            <a:off x="2989328" y="2314136"/>
            <a:ext cx="3165339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id" sz="1400" b="1" i="0" u="none" strike="noStrike" cap="none" dirty="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Judul Halaman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" name="Up Arrow 8">
            <a:extLst>
              <a:ext uri="{FF2B5EF4-FFF2-40B4-BE49-F238E27FC236}">
                <a16:creationId xmlns:a16="http://schemas.microsoft.com/office/drawing/2014/main" id="{F91A26CF-0FB1-7A93-2C57-B62BC4BF45B9}"/>
              </a:ext>
            </a:extLst>
          </p:cNvPr>
          <p:cNvSpPr/>
          <p:nvPr/>
        </p:nvSpPr>
        <p:spPr>
          <a:xfrm>
            <a:off x="3262440" y="2800887"/>
            <a:ext cx="311966" cy="507801"/>
          </a:xfrm>
          <a:prstGeom prst="upArrow">
            <a:avLst/>
          </a:prstGeom>
          <a:solidFill>
            <a:srgbClr val="1891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sz="2400"/>
          </a:p>
        </p:txBody>
      </p:sp>
      <p:sp>
        <p:nvSpPr>
          <p:cNvPr id="3" name="Up Arrow 8">
            <a:extLst>
              <a:ext uri="{FF2B5EF4-FFF2-40B4-BE49-F238E27FC236}">
                <a16:creationId xmlns:a16="http://schemas.microsoft.com/office/drawing/2014/main" id="{DD46DF1B-E172-2CCE-9EFA-C387E461A971}"/>
              </a:ext>
            </a:extLst>
          </p:cNvPr>
          <p:cNvSpPr/>
          <p:nvPr/>
        </p:nvSpPr>
        <p:spPr>
          <a:xfrm>
            <a:off x="5569596" y="2800886"/>
            <a:ext cx="311966" cy="507801"/>
          </a:xfrm>
          <a:prstGeom prst="upArrow">
            <a:avLst/>
          </a:prstGeom>
          <a:solidFill>
            <a:srgbClr val="1891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sz="2400"/>
          </a:p>
        </p:txBody>
      </p:sp>
      <p:sp>
        <p:nvSpPr>
          <p:cNvPr id="4" name="Up Arrow 8">
            <a:extLst>
              <a:ext uri="{FF2B5EF4-FFF2-40B4-BE49-F238E27FC236}">
                <a16:creationId xmlns:a16="http://schemas.microsoft.com/office/drawing/2014/main" id="{A8E96A83-54EA-1A4D-8A95-C28B02121EA3}"/>
              </a:ext>
            </a:extLst>
          </p:cNvPr>
          <p:cNvSpPr/>
          <p:nvPr/>
        </p:nvSpPr>
        <p:spPr>
          <a:xfrm rot="10800000">
            <a:off x="4350563" y="1897727"/>
            <a:ext cx="311966" cy="507801"/>
          </a:xfrm>
          <a:prstGeom prst="upArrow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sz="2400"/>
          </a:p>
        </p:txBody>
      </p:sp>
      <p:sp>
        <p:nvSpPr>
          <p:cNvPr id="5" name="Google Shape;143;p9">
            <a:extLst>
              <a:ext uri="{FF2B5EF4-FFF2-40B4-BE49-F238E27FC236}">
                <a16:creationId xmlns:a16="http://schemas.microsoft.com/office/drawing/2014/main" id="{CEA4FA67-452D-D213-E8EE-F265C80D92C1}"/>
              </a:ext>
            </a:extLst>
          </p:cNvPr>
          <p:cNvSpPr txBox="1"/>
          <p:nvPr/>
        </p:nvSpPr>
        <p:spPr>
          <a:xfrm>
            <a:off x="2507593" y="3308688"/>
            <a:ext cx="182166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Ini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merupakan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 tag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awal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pembuka</a:t>
            </a:r>
            <a:endParaRPr sz="1200" b="1" i="0" u="none" strike="noStrike" cap="none" dirty="0">
              <a:solidFill>
                <a:schemeClr val="tx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" name="Google Shape;143;p9">
            <a:extLst>
              <a:ext uri="{FF2B5EF4-FFF2-40B4-BE49-F238E27FC236}">
                <a16:creationId xmlns:a16="http://schemas.microsoft.com/office/drawing/2014/main" id="{9B59EC69-5EBB-24FF-B433-57E142C146B4}"/>
              </a:ext>
            </a:extLst>
          </p:cNvPr>
          <p:cNvSpPr txBox="1"/>
          <p:nvPr/>
        </p:nvSpPr>
        <p:spPr>
          <a:xfrm>
            <a:off x="5013672" y="3315856"/>
            <a:ext cx="2039311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Ini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merupakan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 tag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akhir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penutup</a:t>
            </a:r>
            <a:endParaRPr sz="1200" b="1" i="0" u="none" strike="noStrike" cap="none" dirty="0">
              <a:solidFill>
                <a:schemeClr val="tx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" name="Google Shape;143;p9">
            <a:extLst>
              <a:ext uri="{FF2B5EF4-FFF2-40B4-BE49-F238E27FC236}">
                <a16:creationId xmlns:a16="http://schemas.microsoft.com/office/drawing/2014/main" id="{C762BC24-BFAB-A327-DD81-BAF07F5D56A5}"/>
              </a:ext>
            </a:extLst>
          </p:cNvPr>
          <p:cNvSpPr txBox="1"/>
          <p:nvPr/>
        </p:nvSpPr>
        <p:spPr>
          <a:xfrm>
            <a:off x="3970166" y="1374724"/>
            <a:ext cx="120366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Isi/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konten</a:t>
            </a:r>
            <a:endParaRPr sz="1200" b="1" i="0" u="none" strike="noStrike" cap="none" dirty="0">
              <a:solidFill>
                <a:schemeClr val="tx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878576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9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27" name="Google Shape;127;p9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9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31" name="Google Shape;131;p9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9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Struktur Dasar HTML</a:t>
            </a:r>
            <a:endParaRPr sz="36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524435" y="1025188"/>
            <a:ext cx="780065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html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&gt;</a:t>
            </a:r>
            <a:r>
              <a:rPr lang="en-US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Merupakan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induk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seluruh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tag html.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head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&gt;</a:t>
            </a:r>
            <a:r>
              <a:rPr lang="en-US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Merupakan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kepala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halaman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html, pada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biasanya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digunakan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elemen-elemen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yang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tidak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ditampilkan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oleh browser.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body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&gt;</a:t>
            </a:r>
            <a:r>
              <a:rPr lang="en-US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Merupakan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isi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halaman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website,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apa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pun yang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akan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ditampilkan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oleh browser,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ditempatkan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bagian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id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</a:t>
            </a:r>
            <a:r>
              <a:rPr lang="en-US" altLang="id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7785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4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49" name="Google Shape;149;p14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14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53" name="Google Shape;153;p14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14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Element &lt;head&gt;</a:t>
            </a:r>
            <a:endParaRPr sz="36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418575" y="1053600"/>
            <a:ext cx="37257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id" sz="1400" b="1" i="0" u="none" strike="noStrike" cap="none" dirty="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Judul Halaman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id" sz="1400" b="1" i="0" u="none" strike="noStrike" cap="none" dirty="0">
                <a:solidFill>
                  <a:srgbClr val="6A9955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/* Kode CSS */</a:t>
            </a:r>
            <a:endParaRPr sz="1400" b="1" i="0" u="none" strike="noStrike" cap="none" dirty="0">
              <a:solidFill>
                <a:srgbClr val="6A9955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 i="0" u="none" strike="noStrike" cap="none" dirty="0">
                <a:solidFill>
                  <a:srgbClr val="D4D4D4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300" b="1" i="0" u="none" strike="noStrike" cap="none" dirty="0">
              <a:solidFill>
                <a:schemeClr val="dk1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453775" y="3631300"/>
            <a:ext cx="372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" sz="1800" b="0" i="1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konten elemen head </a:t>
            </a: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16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72" name="Google Shape;172;p16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16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76" name="Google Shape;176;p16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16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Element &lt;body&gt;</a:t>
            </a:r>
            <a:endParaRPr sz="36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418575" y="1053600"/>
            <a:ext cx="7884600" cy="290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rgbClr val="C0C0C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rgbClr val="C0C0C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id" sz="1400" b="1" i="0" u="none" strike="noStrike" cap="none" dirty="0">
                <a:solidFill>
                  <a:schemeClr val="tx1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Ini bagian judulnya ya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rgbClr val="C0C0C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rgbClr val="C0C0C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rgbClr val="C0C0C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id" sz="1400" b="1" i="0" u="none" strike="noStrike" cap="none" dirty="0">
                <a:solidFill>
                  <a:schemeClr val="tx1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ini header</a:t>
            </a:r>
            <a:r>
              <a:rPr lang="en-US" sz="1400" b="1" i="0" u="none" strike="noStrike" cap="none" dirty="0">
                <a:solidFill>
                  <a:schemeClr val="tx1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1400" b="1" i="0" u="none" strike="noStrike" cap="none" dirty="0" err="1">
                <a:solidFill>
                  <a:schemeClr val="tx1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judul</a:t>
            </a:r>
            <a:r>
              <a:rPr lang="id" sz="1400" b="1" i="0" u="none" strike="noStrike" cap="none" dirty="0">
                <a:solidFill>
                  <a:schemeClr val="tx1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 pada elemen body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rgbClr val="C0C0C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id" sz="1400" b="1" i="0" u="none" strike="noStrike" cap="none" dirty="0">
                <a:solidFill>
                  <a:schemeClr val="tx1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ini adalah sebuah paragraf yang diletakkan pada bagian konten dari elemen body, sehingga elemen ini dapat dilihat pada jendela browser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rgbClr val="C0C0C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D4D4D4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b="1" i="0" u="none" strike="noStrike" cap="none" dirty="0">
              <a:solidFill>
                <a:srgbClr val="808080"/>
              </a:solidFill>
              <a:highlight>
                <a:srgbClr val="C0C0C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id" sz="1400" b="1" i="0" u="none" strike="noStrike" cap="none" dirty="0">
                <a:solidFill>
                  <a:srgbClr val="569CD6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id" sz="1400" b="1" i="0" u="none" strike="noStrike" cap="none" dirty="0">
                <a:solidFill>
                  <a:srgbClr val="808080"/>
                </a:solidFill>
                <a:highlight>
                  <a:srgbClr val="C0C0C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300" b="1" i="0" u="none" strike="noStrike" cap="none" dirty="0">
              <a:solidFill>
                <a:schemeClr val="dk1"/>
              </a:solidFill>
              <a:highlight>
                <a:srgbClr val="C0C0C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g14a2808932e_0_21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16" name="Google Shape;216;g14a2808932e_0_21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14a2808932e_0_21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14a2808932e_0_21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g14a2808932e_0_21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20" name="Google Shape;220;g14a2808932e_0_21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14a2808932e_0_21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14a2808932e_0_21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14a2808932e_0_21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14a2808932e_0_21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14a2808932e_0_21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14a2808932e_0_21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14a2808932e_0_21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14a2808932e_0_21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1" name="Google Shape;231;g14a2808932e_0_21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Tag</a:t>
            </a:r>
            <a:r>
              <a:rPr lang="en-US" sz="3600" b="1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 heading</a:t>
            </a:r>
            <a:endParaRPr sz="36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g14a2808932e_0_21"/>
          <p:cNvSpPr txBox="1"/>
          <p:nvPr/>
        </p:nvSpPr>
        <p:spPr>
          <a:xfrm>
            <a:off x="418575" y="1053600"/>
            <a:ext cx="3436015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FontTx/>
              <a:buNone/>
            </a:pP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id-ID" sz="2000" dirty="0">
                <a:solidFill>
                  <a:schemeClr val="tx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buFontTx/>
              <a:buNone/>
            </a:pP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h2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id-ID" sz="2000" dirty="0">
                <a:solidFill>
                  <a:schemeClr val="tx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h2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buFontTx/>
              <a:buNone/>
            </a:pP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h3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id-ID" sz="2000" dirty="0">
                <a:solidFill>
                  <a:schemeClr val="tx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h3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buFontTx/>
              <a:buNone/>
            </a:pP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h4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id-ID" sz="2000" dirty="0">
                <a:solidFill>
                  <a:schemeClr val="tx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h4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buFontTx/>
              <a:buNone/>
            </a:pP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h5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id-ID" sz="2000" dirty="0">
                <a:solidFill>
                  <a:schemeClr val="tx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h5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buFontTx/>
              <a:buNone/>
            </a:pP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h6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id-ID" sz="2000" dirty="0">
                <a:solidFill>
                  <a:schemeClr val="tx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altLang="id-ID" sz="2000" dirty="0">
                <a:solidFill>
                  <a:schemeClr val="accent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h6</a:t>
            </a:r>
            <a:r>
              <a:rPr lang="en-US" altLang="id-ID" sz="2000" dirty="0">
                <a:solidFill>
                  <a:schemeClr val="tx2">
                    <a:lumMod val="50000"/>
                  </a:schemeClr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7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94" name="Google Shape;194;p17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98" name="Google Shape;198;p17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17"/>
          <p:cNvSpPr txBox="1"/>
          <p:nvPr/>
        </p:nvSpPr>
        <p:spPr>
          <a:xfrm>
            <a:off x="359325" y="164275"/>
            <a:ext cx="788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 i="0" u="none" strike="noStrike" cap="non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Tag komentar</a:t>
            </a:r>
            <a:endParaRPr sz="3600" b="1" i="0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424611" y="903175"/>
            <a:ext cx="7745700" cy="367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id-ID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Komentar pada HTML adalah sebuah </a:t>
            </a:r>
            <a:r>
              <a:rPr lang="id-ID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tag</a:t>
            </a:r>
            <a:r>
              <a:rPr lang="id-ID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id-ID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id-ID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yang digunakan untuk meninggalkan sebuah catatan pada dokumen HTML kita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id-ID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Catatan tersebut bisa berupa deskripsi/tujuan suatu bagian kode HTML, atau juga bisa digunakan untuk memberikan rekomendasi, atau bahkan untuk menyembunyikan sementara sebuah kode HTML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id-ID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Komentar pada HTML akan diabaikan oleh web browser, ia tidak akan ditampilkan sehingga </a:t>
            </a:r>
            <a:r>
              <a:rPr lang="id-ID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id-ID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tidak akan melihat apa-apa.</a:t>
            </a:r>
            <a:endParaRPr lang="en-US" sz="1400" b="1" i="0" u="none" strike="noStrike" cap="none" dirty="0">
              <a:solidFill>
                <a:schemeClr val="tx1"/>
              </a:solidFill>
              <a:highlight>
                <a:srgbClr val="D4D4D4"/>
              </a:highlight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6A9955"/>
                </a:solidFill>
                <a:highlight>
                  <a:srgbClr val="D4D4D4"/>
                </a:highlight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&lt;!-- Ini adalah sebuah koment</a:t>
            </a:r>
            <a:r>
              <a:rPr lang="id" sz="1400" b="1" i="0" u="none" strike="noStrike" cap="none" dirty="0">
                <a:solidFill>
                  <a:srgbClr val="6A9955"/>
                </a:solidFill>
                <a:highlight>
                  <a:srgbClr val="D4D4D4"/>
                </a:highlight>
                <a:latin typeface="Courier New"/>
                <a:ea typeface="Courier New"/>
                <a:cs typeface="Courier New"/>
                <a:sym typeface="Courier New"/>
              </a:rPr>
              <a:t>ar --&gt;</a:t>
            </a:r>
            <a:endParaRPr sz="1400" b="1" i="0" u="none" strike="noStrike" cap="none" dirty="0">
              <a:solidFill>
                <a:srgbClr val="6A9955"/>
              </a:solidFill>
              <a:highlight>
                <a:srgbClr val="D4D4D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6A9955"/>
                </a:solidFill>
                <a:highlight>
                  <a:srgbClr val="D4D4D4"/>
                </a:highlight>
                <a:latin typeface="Courier New"/>
                <a:ea typeface="Courier New"/>
                <a:cs typeface="Courier New"/>
                <a:sym typeface="Courier New"/>
              </a:rPr>
              <a:t>&lt;!-- Ini komentar yang</a:t>
            </a:r>
            <a:endParaRPr sz="1400" b="1" i="0" u="none" strike="noStrike" cap="none" dirty="0">
              <a:solidFill>
                <a:srgbClr val="6A9955"/>
              </a:solidFill>
              <a:highlight>
                <a:srgbClr val="D4D4D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1" i="0" u="none" strike="noStrike" cap="none" dirty="0">
                <a:solidFill>
                  <a:srgbClr val="6A9955"/>
                </a:solidFill>
                <a:highlight>
                  <a:srgbClr val="D4D4D4"/>
                </a:highlight>
                <a:latin typeface="Courier New"/>
                <a:ea typeface="Courier New"/>
                <a:cs typeface="Courier New"/>
                <a:sym typeface="Courier New"/>
              </a:rPr>
              <a:t> terdiri lebih dari satu baris --&gt;</a:t>
            </a:r>
            <a:endParaRPr sz="2300" b="1" i="0" u="none" strike="noStrike" cap="none" dirty="0">
              <a:solidFill>
                <a:schemeClr val="dk1"/>
              </a:solidFill>
              <a:highlight>
                <a:srgbClr val="D4D4D4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500" b="1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Task </a:t>
            </a:r>
            <a:endParaRPr sz="2500" b="1" i="0" u="none" strike="noStrike" cap="non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Buatlah satu laman dengan menggunakan berkas halaman HTML yang telah dibuat dengan menggunakan struktur dasar HTML. Buat menggunakan aplikasi Text Editor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1. HTML </a:t>
            </a:r>
            <a:r>
              <a:rPr lang="en-US" i="1" dirty="0" err="1">
                <a:latin typeface="Consolas" panose="020B0609020204030204" pitchFamily="49" charset="0"/>
                <a:ea typeface="Roboto"/>
                <a:cs typeface="Roboto"/>
                <a:sym typeface="Roboto"/>
              </a:rPr>
              <a:t>merupakan</a:t>
            </a: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 </a:t>
            </a:r>
            <a:r>
              <a:rPr lang="en-US" i="1" dirty="0" err="1">
                <a:latin typeface="Consolas" panose="020B0609020204030204" pitchFamily="49" charset="0"/>
                <a:ea typeface="Roboto"/>
                <a:cs typeface="Roboto"/>
                <a:sym typeface="Roboto"/>
              </a:rPr>
              <a:t>singkatan</a:t>
            </a: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 </a:t>
            </a:r>
            <a:r>
              <a:rPr lang="en-US" i="1" dirty="0" err="1">
                <a:latin typeface="Consolas" panose="020B0609020204030204" pitchFamily="49" charset="0"/>
                <a:ea typeface="Roboto"/>
                <a:cs typeface="Roboto"/>
                <a:sym typeface="Roboto"/>
              </a:rPr>
              <a:t>dari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Hyper Link Markup Language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 Hyper Tool Markup Language</a:t>
            </a:r>
            <a:r>
              <a:rPr lang="en-US" dirty="0"/>
              <a:t> 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Hyper Text Markup Language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Hyper Test Markup Language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929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1. HTML </a:t>
            </a:r>
            <a:r>
              <a:rPr lang="en-US" i="1" dirty="0" err="1">
                <a:latin typeface="Consolas" panose="020B0609020204030204" pitchFamily="49" charset="0"/>
                <a:ea typeface="Roboto"/>
                <a:cs typeface="Roboto"/>
                <a:sym typeface="Roboto"/>
              </a:rPr>
              <a:t>merupakan</a:t>
            </a: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 </a:t>
            </a:r>
            <a:r>
              <a:rPr lang="en-US" i="1" dirty="0" err="1">
                <a:latin typeface="Consolas" panose="020B0609020204030204" pitchFamily="49" charset="0"/>
                <a:ea typeface="Roboto"/>
                <a:cs typeface="Roboto"/>
                <a:sym typeface="Roboto"/>
              </a:rPr>
              <a:t>singkatan</a:t>
            </a: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 </a:t>
            </a:r>
            <a:r>
              <a:rPr lang="en-US" i="1" dirty="0" err="1">
                <a:latin typeface="Consolas" panose="020B0609020204030204" pitchFamily="49" charset="0"/>
                <a:ea typeface="Roboto"/>
                <a:cs typeface="Roboto"/>
                <a:sym typeface="Roboto"/>
              </a:rPr>
              <a:t>dari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Hyper Link Markup Language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 Hyper Tool Markup Language</a:t>
            </a:r>
            <a:r>
              <a:rPr lang="en-US" dirty="0"/>
              <a:t> 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Hyper Text Markup Language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Hyper Test Markup Language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954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2. 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Apa saja struktur dasar </a:t>
            </a:r>
            <a:r>
              <a:rPr lang="id-ID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kecuali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&lt;body&gt;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 &lt;head&gt;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&lt;title&gt;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&lt;left&gt;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218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2. 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Apa saja struktur dasar </a:t>
            </a:r>
            <a:r>
              <a:rPr lang="id-ID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kecuali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&lt;body&gt;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</a:t>
            </a:r>
            <a:r>
              <a:rPr lang="en-US" dirty="0"/>
              <a:t>.</a:t>
            </a:r>
            <a:r>
              <a:rPr lang="en-US" dirty="0">
                <a:solidFill>
                  <a:schemeClr val="tx1"/>
                </a:solidFill>
              </a:rPr>
              <a:t>&lt;head&gt;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&lt;title&gt;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&lt;left&gt;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015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3. </a:t>
            </a:r>
            <a:r>
              <a:rPr lang="sv-S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Apa fungsi dari element &lt;head&gt; pada berkas HTML?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</a:t>
            </a:r>
            <a:r>
              <a:rPr lang="en-US" dirty="0" err="1">
                <a:solidFill>
                  <a:schemeClr val="tx1"/>
                </a:solidFill>
              </a:rPr>
              <a:t>Penyimpanan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informasi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dokumen</a:t>
            </a:r>
            <a:r>
              <a:rPr lang="en-US" dirty="0">
                <a:solidFill>
                  <a:schemeClr val="tx1"/>
                </a:solidFill>
              </a:rPr>
              <a:t> HTML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</a:t>
            </a:r>
            <a:r>
              <a:rPr lang="en-US" dirty="0"/>
              <a:t>.</a:t>
            </a:r>
            <a:r>
              <a:rPr lang="en-US" dirty="0" err="1">
                <a:solidFill>
                  <a:schemeClr val="tx1"/>
                </a:solidFill>
              </a:rPr>
              <a:t>Penulisan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informasi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dokumen</a:t>
            </a:r>
            <a:r>
              <a:rPr lang="en-US" dirty="0">
                <a:solidFill>
                  <a:schemeClr val="tx1"/>
                </a:solidFill>
              </a:rPr>
              <a:t> HTML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</a:t>
            </a:r>
            <a:r>
              <a:rPr lang="en-US" dirty="0" err="1">
                <a:solidFill>
                  <a:schemeClr val="tx1"/>
                </a:solidFill>
              </a:rPr>
              <a:t>Penghapusan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informasi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dokumen</a:t>
            </a:r>
            <a:r>
              <a:rPr lang="en-US" dirty="0">
                <a:solidFill>
                  <a:schemeClr val="tx1"/>
                </a:solidFill>
              </a:rPr>
              <a:t> HTML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</a:t>
            </a:r>
            <a:r>
              <a:rPr lang="en-US" dirty="0" err="1">
                <a:solidFill>
                  <a:schemeClr val="tx1"/>
                </a:solidFill>
              </a:rPr>
              <a:t>Pengiriman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informasi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dokumen</a:t>
            </a:r>
            <a:r>
              <a:rPr lang="en-US" dirty="0">
                <a:solidFill>
                  <a:schemeClr val="tx1"/>
                </a:solidFill>
              </a:rPr>
              <a:t> HTML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960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3. </a:t>
            </a:r>
            <a:r>
              <a:rPr lang="sv-S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Apa fungsi dari element &lt;head&gt; pada berkas HTML?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</a:t>
            </a:r>
            <a:r>
              <a:rPr lang="en-US" dirty="0" err="1">
                <a:solidFill>
                  <a:schemeClr val="tx1"/>
                </a:solidFill>
              </a:rPr>
              <a:t>Penyimpanan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informasi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dokumen</a:t>
            </a:r>
            <a:r>
              <a:rPr lang="en-US" dirty="0">
                <a:solidFill>
                  <a:schemeClr val="tx1"/>
                </a:solidFill>
              </a:rPr>
              <a:t> HTML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</a:t>
            </a:r>
            <a:r>
              <a:rPr lang="en-US" dirty="0"/>
              <a:t>.</a:t>
            </a:r>
            <a:r>
              <a:rPr lang="en-US" dirty="0" err="1">
                <a:solidFill>
                  <a:schemeClr val="tx1"/>
                </a:solidFill>
              </a:rPr>
              <a:t>Penulisan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informasi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dokumen</a:t>
            </a:r>
            <a:r>
              <a:rPr lang="en-US" dirty="0">
                <a:solidFill>
                  <a:schemeClr val="tx1"/>
                </a:solidFill>
              </a:rPr>
              <a:t> HTML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</a:t>
            </a:r>
            <a:r>
              <a:rPr lang="en-US" dirty="0" err="1">
                <a:solidFill>
                  <a:schemeClr val="tx1"/>
                </a:solidFill>
              </a:rPr>
              <a:t>Penghapusan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informasi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dokumen</a:t>
            </a:r>
            <a:r>
              <a:rPr lang="en-US" dirty="0">
                <a:solidFill>
                  <a:schemeClr val="tx1"/>
                </a:solidFill>
              </a:rPr>
              <a:t> HTML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</a:t>
            </a:r>
            <a:r>
              <a:rPr lang="en-US" dirty="0" err="1">
                <a:solidFill>
                  <a:schemeClr val="tx1"/>
                </a:solidFill>
              </a:rPr>
              <a:t>Pengiriman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informasi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dokumen</a:t>
            </a:r>
            <a:r>
              <a:rPr lang="en-US" dirty="0">
                <a:solidFill>
                  <a:schemeClr val="tx1"/>
                </a:solidFill>
              </a:rPr>
              <a:t> HTML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691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4. 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Elemen pada </a:t>
            </a:r>
            <a:r>
              <a:rPr lang="id-ID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yang digunakan untuk menampung seluruh konten atau elemen yang akan ditampilkan pada jendela browser, merupakan elemen?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&lt;body&gt;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</a:t>
            </a:r>
            <a:r>
              <a:rPr lang="en-US" dirty="0"/>
              <a:t>.</a:t>
            </a:r>
            <a:r>
              <a:rPr lang="en-US" dirty="0">
                <a:solidFill>
                  <a:schemeClr val="tx1"/>
                </a:solidFill>
              </a:rPr>
              <a:t>&lt;html&gt;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&lt;title&gt;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&lt;p&gt;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273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14a2808932e_0_42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238" name="Google Shape;238;g14a2808932e_0_4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4a2808932e_0_4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4a2808932e_0_4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14a2808932e_0_42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42" name="Google Shape;242;g14a2808932e_0_4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4a2808932e_0_4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14a2808932e_0_4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14a2808932e_0_4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14a2808932e_0_4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14a2808932e_0_4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14a2808932e_0_4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14a2808932e_0_4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14a2808932e_0_4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g14a2808932e_0_42"/>
          <p:cNvSpPr txBox="1"/>
          <p:nvPr/>
        </p:nvSpPr>
        <p:spPr>
          <a:xfrm>
            <a:off x="372750" y="178750"/>
            <a:ext cx="7884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2500" b="1" i="0" u="none" strike="noStrike" cap="none" dirty="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14a2808932e_0_42"/>
          <p:cNvSpPr txBox="1"/>
          <p:nvPr/>
        </p:nvSpPr>
        <p:spPr>
          <a:xfrm>
            <a:off x="456600" y="940075"/>
            <a:ext cx="7499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onsolas" panose="020B0609020204030204" pitchFamily="49" charset="0"/>
                <a:ea typeface="Roboto"/>
                <a:cs typeface="Roboto"/>
                <a:sym typeface="Roboto"/>
              </a:rPr>
              <a:t>4. 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Elemen pada </a:t>
            </a:r>
            <a:r>
              <a:rPr lang="id-ID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id-ID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yang digunakan untuk menampung seluruh konten atau elemen yang akan ditampilkan pada jendela browser, merupakan elemen?</a:t>
            </a:r>
            <a:endParaRPr i="1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DAA970-F2D6-545D-803C-C039A7C4AA2F}"/>
              </a:ext>
            </a:extLst>
          </p:cNvPr>
          <p:cNvSpPr/>
          <p:nvPr/>
        </p:nvSpPr>
        <p:spPr>
          <a:xfrm>
            <a:off x="584947" y="1606924"/>
            <a:ext cx="3269643" cy="71941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A. &lt;body&gt;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C5C05-2EBB-2842-12CA-7DA9E5AA4DE0}"/>
              </a:ext>
            </a:extLst>
          </p:cNvPr>
          <p:cNvSpPr/>
          <p:nvPr/>
        </p:nvSpPr>
        <p:spPr>
          <a:xfrm>
            <a:off x="584947" y="2737904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C.</a:t>
            </a:r>
            <a:r>
              <a:rPr lang="en-US" dirty="0"/>
              <a:t>.</a:t>
            </a:r>
            <a:r>
              <a:rPr lang="en-US" dirty="0">
                <a:solidFill>
                  <a:schemeClr val="tx1"/>
                </a:solidFill>
              </a:rPr>
              <a:t>&lt;html&gt;</a:t>
            </a:r>
            <a:endParaRPr lang="id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C199D-9B09-1BB2-D278-9E7EA5CBD9A8}"/>
              </a:ext>
            </a:extLst>
          </p:cNvPr>
          <p:cNvSpPr/>
          <p:nvPr/>
        </p:nvSpPr>
        <p:spPr>
          <a:xfrm>
            <a:off x="5289407" y="1603020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B. &lt;title&gt;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816E9-E635-0C9A-2279-EE77CF4C1B19}"/>
              </a:ext>
            </a:extLst>
          </p:cNvPr>
          <p:cNvSpPr/>
          <p:nvPr/>
        </p:nvSpPr>
        <p:spPr>
          <a:xfrm>
            <a:off x="5289407" y="2737903"/>
            <a:ext cx="3269643" cy="71941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D. &lt;p&gt;</a:t>
            </a:r>
            <a:endParaRPr lang="id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7983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Microsoft Office PowerPoint</Application>
  <PresentationFormat>On-screen Show (16:9)</PresentationFormat>
  <Paragraphs>126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Consolas</vt:lpstr>
      <vt:lpstr>Roboto</vt:lpstr>
      <vt:lpstr>Courier New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dhafin naufal</cp:lastModifiedBy>
  <cp:revision>3</cp:revision>
  <dcterms:modified xsi:type="dcterms:W3CDTF">2024-08-25T13:43:31Z</dcterms:modified>
</cp:coreProperties>
</file>